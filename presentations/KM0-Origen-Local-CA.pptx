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548640"/>
            <a:ext cx="1490008" cy="1645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Inter"/>
              </a:defRPr>
            </a:pPr>
            <a:r>
              <a:t>Kilòmetre 0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5F2E"/>
                </a:solidFill>
                <a:latin typeface="Inter"/>
              </a:defRPr>
            </a:pPr>
            <a:r>
              <a:t>Moviment digital comunitari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E040A0"/>
                </a:solidFill>
                <a:latin typeface="Inter"/>
              </a:defRPr>
            </a:pPr>
            <a:r>
              <a:t>RECUPERA EL CONTROL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km0digital.com · cloud.km0digital.com  ·  Theme: Origen Local  ·  Català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FFFFFF"/>
                </a:solidFill>
                <a:latin typeface="Inter"/>
              </a:defRPr>
            </a:pPr>
            <a:r>
              <a:t>Per què existeix KM0?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Moviment social i tecnològic construït per i per a la comunitat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Alternativa real a la dependència de Big Tech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Serveis oberts, propers i sostenibles — no un altre proveïdor més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Persones reals darrere del projecte, no un call center anònim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2  ·  Theme: Origen Local  ·  Català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2800">
                <a:solidFill>
                  <a:srgbClr val="FFFFFF"/>
                </a:solidFill>
                <a:latin typeface="Inter"/>
              </a:defRPr>
            </a:pPr>
            <a:r>
              <a:t>L'habitual vs. La proposta KM0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4526279" cy="4754880"/>
          </a:xfrm>
          <a:prstGeom prst="roundRect">
            <a:avLst/>
          </a:prstGeom>
          <a:solidFill>
            <a:srgbClr val="151D2E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41605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FFFFFF"/>
                </a:solidFill>
              </a:defRPr>
            </a:pPr>
            <a:r>
              <a:t>L'habitual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16051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E5E7EB"/>
                </a:solidFill>
                <a:latin typeface="Inter"/>
              </a:defRPr>
            </a:pPr>
            <a:r>
              <a:t>Les teves dades com a producte</a:t>
            </a:r>
          </a:p>
          <a:p>
            <a:pPr>
              <a:spcAft>
                <a:spcPts val="1000"/>
              </a:spcAft>
              <a:defRPr sz="1400">
                <a:solidFill>
                  <a:srgbClr val="E5E7EB"/>
                </a:solidFill>
                <a:latin typeface="Inter"/>
              </a:defRPr>
            </a:pPr>
            <a:r>
              <a:t>Suport anònim i llunyà</a:t>
            </a:r>
          </a:p>
          <a:p>
            <a:pPr>
              <a:spcAft>
                <a:spcPts val="1000"/>
              </a:spcAft>
              <a:defRPr sz="1400">
                <a:solidFill>
                  <a:srgbClr val="E5E7EB"/>
                </a:solidFill>
                <a:latin typeface="Inter"/>
              </a:defRPr>
            </a:pPr>
            <a:r>
              <a:t>Preus que no reflecteixen el cost real</a:t>
            </a:r>
          </a:p>
          <a:p>
            <a:pPr>
              <a:spcAft>
                <a:spcPts val="1000"/>
              </a:spcAft>
              <a:defRPr sz="1400">
                <a:solidFill>
                  <a:srgbClr val="E5E7EB"/>
                </a:solidFill>
                <a:latin typeface="Inter"/>
              </a:defRPr>
            </a:pPr>
            <a:r>
              <a:t>Dependència d'uns pocs proveïdors globals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19" y="1280160"/>
            <a:ext cx="4526279" cy="4754880"/>
          </a:xfrm>
          <a:prstGeom prst="roundRect">
            <a:avLst/>
          </a:prstGeom>
          <a:solidFill>
            <a:srgbClr val="151D2E"/>
          </a:solidFill>
          <a:ln>
            <a:solidFill>
              <a:srgbClr val="FF5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4999" y="1417320"/>
            <a:ext cx="416051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FF5F2E"/>
                </a:solidFill>
              </a:defRPr>
            </a:pPr>
            <a:r>
              <a:t>La proposta KM0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4999" y="1920240"/>
            <a:ext cx="416051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E5E7EB"/>
                </a:solidFill>
                <a:latin typeface="Inter"/>
              </a:defRPr>
            </a:pPr>
            <a:r>
              <a:t>Control i transparència sobre les teves dades</a:t>
            </a:r>
          </a:p>
          <a:p>
            <a:pPr>
              <a:spcAft>
                <a:spcPts val="1000"/>
              </a:spcAft>
              <a:defRPr sz="1400">
                <a:solidFill>
                  <a:srgbClr val="E5E7EB"/>
                </a:solidFill>
                <a:latin typeface="Inter"/>
              </a:defRPr>
            </a:pPr>
            <a:r>
              <a:t>Persones reals, a prop teu</a:t>
            </a:r>
          </a:p>
          <a:p>
            <a:pPr>
              <a:spcAft>
                <a:spcPts val="1000"/>
              </a:spcAft>
              <a:defRPr sz="1400">
                <a:solidFill>
                  <a:srgbClr val="E5E7EB"/>
                </a:solidFill>
                <a:latin typeface="Inter"/>
              </a:defRPr>
            </a:pPr>
            <a:r>
              <a:t>Cost honest i sostenible</a:t>
            </a:r>
          </a:p>
          <a:p>
            <a:pPr>
              <a:spcAft>
                <a:spcPts val="1000"/>
              </a:spcAft>
              <a:defRPr sz="1400">
                <a:solidFill>
                  <a:srgbClr val="E5E7EB"/>
                </a:solidFill>
                <a:latin typeface="Inter"/>
              </a:defRPr>
            </a:pPr>
            <a:r>
              <a:t>Comunitat oberta a qui vulgui participar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3  ·  Theme: Origen Local  ·  Català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FFFFFF"/>
                </a:solidFill>
                <a:latin typeface="Inter"/>
              </a:defRPr>
            </a:pPr>
            <a:r>
              <a:t>Principis del moviment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194560" cy="594360"/>
          </a:xfrm>
          <a:prstGeom prst="round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Obert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63239" y="1463040"/>
            <a:ext cx="2194560" cy="594360"/>
          </a:xfrm>
          <a:prstGeom prst="roundRect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Transparent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59" y="1463040"/>
            <a:ext cx="2194560" cy="594360"/>
          </a:xfrm>
          <a:prstGeom prst="roundRect">
            <a:avLst/>
          </a:prstGeom>
          <a:solidFill>
            <a:srgbClr val="7B3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Comunitari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26679" y="1463040"/>
            <a:ext cx="2194560" cy="594360"/>
          </a:xfrm>
          <a:prstGeom prst="round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Local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9326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E5E7EB"/>
                </a:solidFill>
                <a:latin typeface="Inter"/>
              </a:defRPr>
            </a:pPr>
            <a:r>
              <a:t>Retornar el control digital a persones, famílies, associacions, cooperatives i centres educatius.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4  ·  Theme: Origen Local  ·  Català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FFFFFF"/>
                </a:solidFill>
                <a:latin typeface="Inter"/>
              </a:defRPr>
            </a:pPr>
            <a:r>
              <a:t>KM0 Cloud — ja en producció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Emmagatzematge i col·laboració al núvol com un drive propi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Comparteix fitxers, sincronitza i treballa en equip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Edició d'Office al navegador amb Collabora Online (DOCX, XLSX, PPTX)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Accés des de web, Android i iOS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URL: cloud.km0digital.com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486400"/>
            <a:ext cx="9326880" cy="640080"/>
          </a:xfrm>
          <a:prstGeom prst="roundRect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Les teves dades, el teu origen. El moviment creix amb tu.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5  ·  Theme: Origen Local  ·  Català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FFFFFF"/>
                </a:solidFill>
                <a:latin typeface="Inter"/>
              </a:defRPr>
            </a:pPr>
            <a:r>
              <a:t>OpenCloud — la plataforma oberta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Plataforma open source per a fitxers, compartició i col·laboració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Desenvolupada per OpenCloud GmbH (Heinlein Group)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Soberania digital: sense dependència obligatòria de núvols externs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Arquitectura de microserveis en Go, sense base de dades SQL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KM0 desplega OpenCloud 7.0.0 en producció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6  ·  Theme: Origen Local  ·  Català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FFFFFF"/>
                </a:solidFill>
                <a:latin typeface="Inter"/>
              </a:defRPr>
            </a:pPr>
            <a:r>
              <a:t>Arquitectura tècnica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Debian 13 + Docker Compose sobre servidors Hetzner (UE, Alemanya)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Nginx com a proxy HTTPS únic; contenidors només a loopback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OpenCloud 7.0.0 · Dex OIDC · Collabora CODE · WOPI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Autenticació híbrida: Google, Apple i LDAP local (IDM)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Certificats TLS Let's Encrypt · UFW + Fail2ban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7  ·  Theme: Origen Local  ·  Català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FFFFFF"/>
                </a:solidFill>
                <a:latin typeface="Inter"/>
              </a:defRPr>
            </a:pPr>
            <a:r>
              <a:t>Autenticació unificada amb 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Dex com a emissor OIDC central per a web, escriptori i mòbil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Login amb Google, Apple o credencials locals d'OpenCloud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Interfície de login personalitzada KM0 (CA | ES | EN | DE)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Clients natius: OpenCloud Desktop, Android i 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8  ·  Theme: Origen Local  ·  Català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FFFFFF"/>
                </a:solidFill>
                <a:latin typeface="Inter"/>
              </a:defRPr>
            </a:pPr>
            <a:r>
              <a:t>Confiança i seguretat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Infraestructura a la UE (Falkenstein, Alemanya)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Operat per AMVARA CONSULTING S.L. — certificat ISO/IEC 27001:2022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Trànsit xifrat TLS · sense vendre dades per a publicitat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Blog tècnic públic: transparència des del dia zero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Backups documentats i runbook operatiu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9  ·  Theme: Origen Local  ·  Català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2800">
                <a:solidFill>
                  <a:srgbClr val="FFFFFF"/>
                </a:solidFill>
                <a:latin typeface="Inter"/>
              </a:defRPr>
            </a:pPr>
            <a:r>
              <a:t>Diari del projecte (Dies 0–5)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280160"/>
            <a:ext cx="164592" cy="164592"/>
          </a:xfrm>
          <a:prstGeom prst="ellipse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1887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FF5F2E"/>
                </a:solidFill>
              </a:defRPr>
            </a:pPr>
            <a:r>
              <a:t>Dia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18872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5E7EB"/>
                </a:solidFill>
              </a:defRPr>
            </a:pPr>
            <a:r>
              <a:t>Fonaments del servidor: Debian, Docker, Nginx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57400"/>
            <a:ext cx="164592" cy="164592"/>
          </a:xfrm>
          <a:prstGeom prst="ellipse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FF5F2E"/>
                </a:solidFill>
              </a:defRPr>
            </a:pPr>
            <a:r>
              <a:t>Dia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96596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5E7EB"/>
                </a:solidFill>
              </a:defRPr>
            </a:pPr>
            <a:r>
              <a:t>Primer desplegament OpenCloud + web KM0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834640"/>
            <a:ext cx="164592" cy="164592"/>
          </a:xfrm>
          <a:prstGeom prst="ellipse">
            <a:avLst/>
          </a:prstGeom>
          <a:solidFill>
            <a:srgbClr val="7B3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FF5F2E"/>
                </a:solidFill>
              </a:defRPr>
            </a:pPr>
            <a:r>
              <a:t>Dia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74320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5E7EB"/>
                </a:solidFill>
              </a:defRPr>
            </a:pPr>
            <a:r>
              <a:t>Upgrade a OpenCloud 7 + Dex OIDC + backups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611880"/>
            <a:ext cx="164592" cy="164592"/>
          </a:xfrm>
          <a:prstGeom prst="ellipse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204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FF5F2E"/>
                </a:solidFill>
              </a:defRPr>
            </a:pPr>
            <a:r>
              <a:t>Dia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52044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5E7EB"/>
                </a:solidFill>
              </a:defRPr>
            </a:pPr>
            <a:r>
              <a:t>Domini km0digital.com + Collabora + FAQ multilingüe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389120"/>
            <a:ext cx="164592" cy="164592"/>
          </a:xfrm>
          <a:prstGeom prst="ellipse">
            <a:avLst/>
          </a:prstGeom>
          <a:solidFill>
            <a:srgbClr val="FF5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2976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FF5F2E"/>
                </a:solidFill>
              </a:defRPr>
            </a:pPr>
            <a:r>
              <a:t>Dia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29768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5E7EB"/>
                </a:solidFill>
              </a:defRPr>
            </a:pPr>
            <a:r>
              <a:t>Login LDAP local unificat amb IDM d'OpenCloud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5166359"/>
            <a:ext cx="164592" cy="164592"/>
          </a:xfrm>
          <a:prstGeom prst="ellipse">
            <a:avLst/>
          </a:prstGeom>
          <a:solidFill>
            <a:srgbClr val="E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0749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FF5F2E"/>
                </a:solidFill>
              </a:defRPr>
            </a:pPr>
            <a:r>
              <a:t>Dia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5074920"/>
            <a:ext cx="74980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5E7EB"/>
                </a:solidFill>
              </a:defRPr>
            </a:pPr>
            <a:r>
              <a:t>Trobada de visió a Masnou — per què i per a qui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10  ·  Theme: Origen Local  ·  Català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7840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b="1" sz="3000">
                <a:solidFill>
                  <a:srgbClr val="FFFFFF"/>
                </a:solidFill>
                <a:latin typeface="Inter"/>
              </a:defRPr>
            </a:pPr>
            <a:r>
              <a:t>Competir sense ser Big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9784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Equips petits amb eines modernes (incloent IA) poden competir amb grans estructures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Preus honestos basats en cost real, no en el producte de les teves dades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Suport humà i proximitat: ens trobem en persona si cal</a:t>
            </a:r>
          </a:p>
          <a:p>
            <a:pPr>
              <a:spcAft>
                <a:spcPts val="1000"/>
              </a:spcAft>
              <a:defRPr sz="1600">
                <a:solidFill>
                  <a:srgbClr val="E5E7EB"/>
                </a:solidFill>
                <a:latin typeface="Inter"/>
              </a:defRPr>
            </a:pPr>
            <a:r>
              <a:t>Local = geogràfic (Barcelona/Masnou), operatiu i ja funcionant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Slide 11  ·  Theme: Origen Local  ·  Català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365760"/>
            <a:ext cx="993338" cy="1097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Inter"/>
              </a:defRPr>
            </a:pPr>
            <a:r>
              <a:t>Forma part del moviment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503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Explora: km0digital.com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Prova KM0 Cloud: cloud.km0digital.com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Tutorials: web, Android i iOS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Contacte: hello.yoel@amvara.de</a:t>
            </a:r>
          </a:p>
          <a:p>
            <a:pPr algn="l">
              <a:spcAft>
                <a:spcPts val="1200"/>
              </a:spcAft>
              <a:defRPr sz="1800">
                <a:solidFill>
                  <a:srgbClr val="E5E7EB"/>
                </a:solidFill>
                <a:latin typeface="Inter"/>
              </a:defRPr>
            </a:pPr>
            <a:r>
              <a:t>→  Uneix-te al grup de WhatsApp de la comunitat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</a:defRPr>
            </a:pPr>
            <a:r>
              <a:t>KM0 Digital · AMVARA CONSULTING S.L.  ·  Theme: Origen Local  ·  Català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