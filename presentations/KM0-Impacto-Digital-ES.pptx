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48640"/>
            <a:ext cx="1490008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Kilómetro 0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40A0"/>
                </a:solidFill>
                <a:latin typeface="Inter"/>
              </a:defRPr>
            </a:pPr>
            <a:r>
              <a:t>Movimiento digital comunitario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040A0"/>
                </a:solidFill>
                <a:latin typeface="Inter"/>
              </a:defRPr>
            </a:pPr>
            <a:r>
              <a:t>RECUPERA EL CONTROL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km0digital.com · cloud.km0digital.com  ·  Theme: Impacto Digital  ·  Español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¿Por qué existe KM0?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Movimiento social y tecnológico construido por y para la comunidad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Alternativa real a la dependencia de Big Tech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Servicios abiertos, cercanos y sostenibles, no otro proveedor más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Personas reales detrás del proyecto, no un call center anónimo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2  ·  Theme: Impacto Digital  ·  Español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2800">
                <a:solidFill>
                  <a:srgbClr val="0B1220"/>
                </a:solidFill>
                <a:latin typeface="Inter"/>
              </a:defRPr>
            </a:pPr>
            <a:r>
              <a:t>Lo habitual vs. La propuesta KM0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526279" cy="4754880"/>
          </a:xfrm>
          <a:prstGeom prst="roundRect">
            <a:avLst/>
          </a:prstGeom>
          <a:solidFill>
            <a:srgbClr val="F5F5F7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160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1220"/>
                </a:solidFill>
              </a:defRPr>
            </a:pPr>
            <a:r>
              <a:t>Lo habitual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160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74151"/>
                </a:solidFill>
                <a:latin typeface="Inter"/>
              </a:defRPr>
            </a:pPr>
            <a:r>
              <a:t>Tus datos como producto</a:t>
            </a:r>
          </a:p>
          <a:p>
            <a:pPr>
              <a:spcAft>
                <a:spcPts val="1000"/>
              </a:spcAft>
              <a:defRPr sz="1400">
                <a:solidFill>
                  <a:srgbClr val="374151"/>
                </a:solidFill>
                <a:latin typeface="Inter"/>
              </a:defRPr>
            </a:pPr>
            <a:r>
              <a:t>Soporte anónimo y lejano</a:t>
            </a:r>
          </a:p>
          <a:p>
            <a:pPr>
              <a:spcAft>
                <a:spcPts val="1000"/>
              </a:spcAft>
              <a:defRPr sz="1400">
                <a:solidFill>
                  <a:srgbClr val="374151"/>
                </a:solidFill>
                <a:latin typeface="Inter"/>
              </a:defRPr>
            </a:pPr>
            <a:r>
              <a:t>Precios que no reflejan el coste real</a:t>
            </a:r>
          </a:p>
          <a:p>
            <a:pPr>
              <a:spcAft>
                <a:spcPts val="1000"/>
              </a:spcAft>
              <a:defRPr sz="1400">
                <a:solidFill>
                  <a:srgbClr val="374151"/>
                </a:solidFill>
                <a:latin typeface="Inter"/>
              </a:defRPr>
            </a:pPr>
            <a:r>
              <a:t>Dependencia de unos pocos proveedores globales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19" y="1280160"/>
            <a:ext cx="4526279" cy="4754880"/>
          </a:xfrm>
          <a:prstGeom prst="roundRect">
            <a:avLst/>
          </a:prstGeom>
          <a:solidFill>
            <a:srgbClr val="F5F5F7"/>
          </a:solidFill>
          <a:ln>
            <a:solidFill>
              <a:srgbClr val="E04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4999" y="1417320"/>
            <a:ext cx="4160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E040A0"/>
                </a:solidFill>
              </a:defRPr>
            </a:pPr>
            <a:r>
              <a:t>La propuesta KM0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4999" y="1920240"/>
            <a:ext cx="4160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74151"/>
                </a:solidFill>
                <a:latin typeface="Inter"/>
              </a:defRPr>
            </a:pPr>
            <a:r>
              <a:t>Control y transparencia sobre tus datos</a:t>
            </a:r>
          </a:p>
          <a:p>
            <a:pPr>
              <a:spcAft>
                <a:spcPts val="1000"/>
              </a:spcAft>
              <a:defRPr sz="1400">
                <a:solidFill>
                  <a:srgbClr val="374151"/>
                </a:solidFill>
                <a:latin typeface="Inter"/>
              </a:defRPr>
            </a:pPr>
            <a:r>
              <a:t>Personas reales, cerca de ti</a:t>
            </a:r>
          </a:p>
          <a:p>
            <a:pPr>
              <a:spcAft>
                <a:spcPts val="1000"/>
              </a:spcAft>
              <a:defRPr sz="1400">
                <a:solidFill>
                  <a:srgbClr val="374151"/>
                </a:solidFill>
                <a:latin typeface="Inter"/>
              </a:defRPr>
            </a:pPr>
            <a:r>
              <a:t>Coste honesto y sostenible</a:t>
            </a:r>
          </a:p>
          <a:p>
            <a:pPr>
              <a:spcAft>
                <a:spcPts val="1000"/>
              </a:spcAft>
              <a:defRPr sz="1400">
                <a:solidFill>
                  <a:srgbClr val="374151"/>
                </a:solidFill>
                <a:latin typeface="Inter"/>
              </a:defRPr>
            </a:pPr>
            <a:r>
              <a:t>Comunidad abierta a quien quiera participar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3  ·  Theme: Impacto Digital  ·  Español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Principios del movimiento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194560" cy="594360"/>
          </a:xfrm>
          <a:prstGeom prst="round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Abierto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39" y="1463040"/>
            <a:ext cx="2194560" cy="594360"/>
          </a:xfrm>
          <a:prstGeom prst="round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Transparente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59" y="1463040"/>
            <a:ext cx="2194560" cy="594360"/>
          </a:xfrm>
          <a:prstGeom prst="roundRect">
            <a:avLst/>
          </a:prstGeom>
          <a:solidFill>
            <a:srgbClr val="7B3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Comunitario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63040"/>
            <a:ext cx="2194560" cy="5943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9326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  <a:latin typeface="Inter"/>
              </a:defRPr>
            </a:pPr>
            <a:r>
              <a:t>Devolver el control digital a personas, familias, asociaciones, cooperativas y centros educativos.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4  ·  Theme: Impacto Digital  ·  Español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KM0 Cloud, ya en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Almacenamiento y colaboración en la nube como un drive propio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Comparte archivos, sincroniza y trabaja en equipo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Edición de Office en el navegador con Collabora Online (DOCX, XLSX, PPTX)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Acceso desde web, Android e iOS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URL: cloud.km0digital.com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9326880" cy="640080"/>
          </a:xfrm>
          <a:prstGeom prst="round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Tus datos, tu origen. El movimiento crece contigo.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5  ·  Theme: Impacto Digital  ·  Español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OpenCloud, la plataforma abierta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Plataforma open source para archivos, compartición y colaboración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Desarrollada por OpenCloud GmbH (Heinlein Group)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Soberanía digital: sin dependencia obligatoria de nubes externas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Arquitectura de microservicios en Go, sin base de datos SQL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KM0 despliega OpenCloud 7.0.0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6  ·  Theme: Impacto Digital  ·  Español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Arquitectura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Debian 13 + Docker Compose en servidores Hetzner (UE, Alemania)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Nginx como proxy HTTPS único; contenedores solo en loopback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OpenCloud 7.0.0 · Dex OIDC · Collabora CODE · WOPI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Autenticación híbrida: Google, Apple y LDAP local (IDM)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Certificados TLS Let's Encrypt · UFW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7  ·  Theme: Impacto Digital  ·  Español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Autenticación unificada con 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Dex como emisor OIDC central para web, escritorio y móvil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Login con Google, Apple o credenciales locales de OpenCloud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Interfaz de login personalizada KM0 (CA | ES | EN | DE)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Clientes nativos: OpenCloud Desktop, Android e 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8  ·  Theme: Impacto Digital  ·  Español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Confianza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Infraestructura en la UE (Falkenstein, Alemania)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Operado por AMVARA CONSULTING S.L., certificado ISO/IEC 27001:2022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Tráfico cifrado TLS · sin vender datos para publicidad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Blog técnico público: transparencia desde el día cero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Backups documentados y runbook operativo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9  ·  Theme: Impacto Digital  ·  Español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2800">
                <a:solidFill>
                  <a:srgbClr val="0B1220"/>
                </a:solidFill>
                <a:latin typeface="Inter"/>
              </a:defRPr>
            </a:pPr>
            <a:r>
              <a:t>Diario del proyecto (Días 0–5)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280160"/>
            <a:ext cx="164592" cy="164592"/>
          </a:xfrm>
          <a:prstGeom prst="ellipse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040A0"/>
                </a:solidFill>
              </a:defRPr>
            </a:pPr>
            <a:r>
              <a:t>Día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18872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Cimientos del servidor: Debian, Docker, Nginx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057400"/>
            <a:ext cx="164592" cy="164592"/>
          </a:xfrm>
          <a:prstGeom prst="ellipse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040A0"/>
                </a:solidFill>
              </a:defRPr>
            </a:pPr>
            <a:r>
              <a:t>Día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6596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Primer despliegue OpenCloud + web KM0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40"/>
            <a:ext cx="164592" cy="164592"/>
          </a:xfrm>
          <a:prstGeom prst="ellipse">
            <a:avLst/>
          </a:prstGeom>
          <a:solidFill>
            <a:srgbClr val="7B3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040A0"/>
                </a:solidFill>
              </a:defRPr>
            </a:pPr>
            <a:r>
              <a:t>Día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Upgrade a OpenCloud 7 + Dex OIDC + backups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1188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040A0"/>
                </a:solidFill>
              </a:defRPr>
            </a:pPr>
            <a:r>
              <a:t>Día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2044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Dominio km0digital.com + Collabora + FAQ multilingüe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89120"/>
            <a:ext cx="164592" cy="164592"/>
          </a:xfrm>
          <a:prstGeom prst="ellipse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040A0"/>
                </a:solidFill>
              </a:defRPr>
            </a:pPr>
            <a:r>
              <a:t>Día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9768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Login LDAP local unificado con IDM de OpenCloud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166359"/>
            <a:ext cx="164592" cy="164592"/>
          </a:xfrm>
          <a:prstGeom prst="ellipse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74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040A0"/>
                </a:solidFill>
              </a:defRPr>
            </a:pPr>
            <a:r>
              <a:t>Día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7492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Encuentro de visión en Masnou: por qué y para quién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10  ·  Theme: Impacto Digital  ·  Español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Competir sin ser Big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Equipos pequeños con herramientas modernas (incluida IA) pueden competir con grandes estructuras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Precios honestos basados en coste real, no en el producto de tus datos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Soporte humano y proximidad: nos vemos en persona si hace falta</a:t>
            </a:r>
          </a:p>
          <a:p>
            <a:pPr>
              <a:spcAft>
                <a:spcPts val="1000"/>
              </a:spcAft>
              <a:defRPr sz="1600">
                <a:solidFill>
                  <a:srgbClr val="374151"/>
                </a:solidFill>
                <a:latin typeface="Inter"/>
              </a:defRPr>
            </a:pPr>
            <a:r>
              <a:t>Local = geográfico (Barcelona/Masnou), operativo y ya funcionando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11  ·  Theme: Impacto Digital  ·  Español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65760"/>
            <a:ext cx="993338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Inter"/>
              </a:defRPr>
            </a:pPr>
            <a:r>
              <a:t>Forma parte del movimiento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Explora: km0digital.com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Prueba KM0 Cloud: cloud.km0digital.com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Tutoriales: web, Android e iOS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Contacto: hello.yoel@amvara.de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Únete al grupo de WhatsApp de la comunidad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AMVARA CONSULTING S.L.  ·  Theme: Impacto Digital  ·  Español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